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B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61320" y="1645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HÖGSKOLAN VÄST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380A4"/>
                </a:solidFill>
                <a:latin typeface="Arial"/>
              </a:rPr>
              <a:t>SESSION 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4114800" cy="13716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155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Arial"/>
              </a:rPr>
              <a:t>Robot-Guided Pick and Place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42900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A0CCE0"/>
                </a:solidFill>
                <a:latin typeface="Arial"/>
              </a:rPr>
              <a:t>Connecting vision to motion — the full autonomous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160520"/>
            <a:ext cx="2286000" cy="365760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178808"/>
            <a:ext cx="21945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⏱  ~3 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263640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0A8C0"/>
                </a:solidFill>
                <a:latin typeface="Arial"/>
              </a:rPr>
              <a:t>Tillsammans förändrar vi.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20840"/>
            <a:ext cx="12188952" cy="27432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3840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HÖGSKOLAN VÄST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700">
                <a:solidFill>
                  <a:srgbClr val="202020"/>
                </a:solidFill>
                <a:latin typeface="Arial"/>
              </a:rPr>
              <a:t>–  Connect the complete vision pipeline to the Dobot E6 robot arm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202020"/>
                </a:solidFill>
                <a:latin typeface="Arial"/>
              </a:rPr>
              <a:t>–  Execute supervised and autonomous pick-and-place sequences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202020"/>
                </a:solidFill>
                <a:latin typeface="Arial"/>
              </a:rPr>
              <a:t>–  Use the ArUco work object frame for accurate positioning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202020"/>
                </a:solidFill>
                <a:latin typeface="Arial"/>
              </a:rPr>
              <a:t>–  Log pick results and compute a success rate</a:t>
            </a:r>
          </a:p>
          <a:p>
            <a:pPr algn="l">
              <a:spcBef>
                <a:spcPts val="300"/>
              </a:spcBef>
            </a:pPr>
            <a:r>
              <a:rPr sz="1700">
                <a:solidFill>
                  <a:srgbClr val="202020"/>
                </a:solidFill>
                <a:latin typeface="Arial"/>
              </a:rPr>
              <a:t>–  Analyse failures and propose improvements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7432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47688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5F72"/>
                </a:solidFill>
                <a:latin typeface="Arial"/>
              </a:rPr>
              <a:t>Vision-Guided Robotic Picking Lab  ·  Högskolan Väst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Session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3840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HÖGSKOLAN VÄST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1521440" cy="493776"/>
          </a:xfrm>
          <a:prstGeom prst="rect">
            <a:avLst/>
          </a:prstGeom>
          <a:solidFill>
            <a:srgbClr val="E4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33502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380A4"/>
                </a:solidFill>
                <a:latin typeface="Arial"/>
              </a:rPr>
              <a:t>00:00</a:t>
            </a:r>
          </a:p>
        </p:txBody>
      </p:sp>
      <p:sp>
        <p:nvSpPr>
          <p:cNvPr id="7" name="Rectangle 6"/>
          <p:cNvSpPr/>
          <p:nvPr/>
        </p:nvSpPr>
        <p:spPr>
          <a:xfrm>
            <a:off x="1938528" y="1316736"/>
            <a:ext cx="16459" cy="329184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57400" y="1335024"/>
            <a:ext cx="9509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02020"/>
                </a:solidFill>
                <a:latin typeface="Arial"/>
              </a:rPr>
              <a:t>Recap + Safety Review — mandatory before robot use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783080"/>
            <a:ext cx="1152144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88366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380A4"/>
                </a:solidFill>
                <a:latin typeface="Arial"/>
              </a:rPr>
              <a:t>00:15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38528" y="1865376"/>
            <a:ext cx="16459" cy="329184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57400" y="1883664"/>
            <a:ext cx="9509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02020"/>
                </a:solidFill>
                <a:latin typeface="Arial"/>
              </a:rPr>
              <a:t>Teacher verifies every station individually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31720"/>
            <a:ext cx="11521440" cy="493776"/>
          </a:xfrm>
          <a:prstGeom prst="rect">
            <a:avLst/>
          </a:prstGeom>
          <a:solidFill>
            <a:srgbClr val="E4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2432303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380A4"/>
                </a:solidFill>
                <a:latin typeface="Arial"/>
              </a:rPr>
              <a:t>00:45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38528" y="2414015"/>
            <a:ext cx="16459" cy="329184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57400" y="2432303"/>
            <a:ext cx="9509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02020"/>
                </a:solidFill>
                <a:latin typeface="Arial"/>
              </a:rPr>
              <a:t>First supervised picks — teacher present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880360"/>
            <a:ext cx="1152144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298094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380A4"/>
                </a:solidFill>
                <a:latin typeface="Arial"/>
              </a:rPr>
              <a:t>01:15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38528" y="2962656"/>
            <a:ext cx="16459" cy="329184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57400" y="2980944"/>
            <a:ext cx="9509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02020"/>
                </a:solidFill>
                <a:latin typeface="Arial"/>
              </a:rPr>
              <a:t>Break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429000"/>
            <a:ext cx="11521440" cy="493776"/>
          </a:xfrm>
          <a:prstGeom prst="rect">
            <a:avLst/>
          </a:prstGeom>
          <a:solidFill>
            <a:srgbClr val="E4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352958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380A4"/>
                </a:solidFill>
                <a:latin typeface="Arial"/>
              </a:rPr>
              <a:t>01:30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38528" y="3511296"/>
            <a:ext cx="16459" cy="329184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57400" y="3529584"/>
            <a:ext cx="9509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02020"/>
                </a:solidFill>
                <a:latin typeface="Arial"/>
              </a:rPr>
              <a:t>Independent picking — increasing difficulty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977639"/>
            <a:ext cx="1152144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407822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380A4"/>
                </a:solidFill>
                <a:latin typeface="Arial"/>
              </a:rPr>
              <a:t>02:00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38528" y="4059935"/>
            <a:ext cx="16459" cy="329184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57400" y="4078224"/>
            <a:ext cx="9509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02020"/>
                </a:solidFill>
                <a:latin typeface="Arial"/>
              </a:rPr>
              <a:t>Mixed clutter challenge — 5+ objects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526279"/>
            <a:ext cx="11521440" cy="493776"/>
          </a:xfrm>
          <a:prstGeom prst="rect">
            <a:avLst/>
          </a:prstGeom>
          <a:solidFill>
            <a:srgbClr val="E4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462686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380A4"/>
                </a:solidFill>
                <a:latin typeface="Arial"/>
              </a:rPr>
              <a:t>02:30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38528" y="4608575"/>
            <a:ext cx="16459" cy="329184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57400" y="4626864"/>
            <a:ext cx="9509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02020"/>
                </a:solidFill>
                <a:latin typeface="Arial"/>
              </a:rPr>
              <a:t>Final group demo (2 min each)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5074920"/>
            <a:ext cx="1152144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517550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380A4"/>
                </a:solidFill>
                <a:latin typeface="Arial"/>
              </a:rPr>
              <a:t>02:45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38528" y="5157216"/>
            <a:ext cx="16459" cy="329184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57400" y="5175504"/>
            <a:ext cx="9509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02020"/>
                </a:solidFill>
                <a:latin typeface="Arial"/>
              </a:rPr>
              <a:t>Discussion, wrap-up, and reflection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01968"/>
            <a:ext cx="12188952" cy="27432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6647688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5F72"/>
                </a:solidFill>
                <a:latin typeface="Arial"/>
              </a:rPr>
              <a:t>Vision-Guided Robotic Picking Lab  ·  Högskolan Väst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Safety Review — Robot 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3840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HÖGSKOLAN VÄST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⚠  Review before EVERY robot session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Emergency stop location confirmed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Hands and tools clear of workspace before any move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Robot speed set to a safe value (≤30%)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Teacher has approved the first pick at your station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Drop zone is defined and clear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If the robot moves unexpectedly → press E-stop immediately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Do not try to catch a falling object with your hands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Teacher must countersign your station checklist before you begin.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7432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47688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5F72"/>
                </a:solidFill>
                <a:latin typeface="Arial"/>
              </a:rPr>
              <a:t>Vision-Guided Robotic Picking Lab  ·  Högskolan Väst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The Full Pipeline — All Four Steps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3840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HÖGSKOLAN VÄST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① Capture       — Take a fresh image from the Basler camera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② Segment       — Send image to Roboflow → receive mask polygons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③ Compute       — Convert centroids to work object coordinates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                  wobj_x = (px_x − c0_px[0]) × mm_per_pixel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④ Pick          — Send MovL command to Dobot E6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                  Approach → Descend → Suction ON → Lift → Drop → OFF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The robot uses User coordinate frame N — C0 of the ArUco marker is (0, 0, 0).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7432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47688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5F72"/>
                </a:solidFill>
                <a:latin typeface="Arial"/>
              </a:rPr>
              <a:t>Vision-Guided Robotic Picking Lab  ·  Högskolan Väst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First Picks —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3840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HÖGSKOLAN VÄST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5532120" cy="5193792"/>
          </a:xfrm>
          <a:prstGeom prst="rect">
            <a:avLst/>
          </a:prstGeom>
          <a:solidFill>
            <a:srgbClr val="E4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B5B"/>
                </a:solidFill>
                <a:latin typeface="Arial"/>
              </a:rPr>
              <a:t>Procedure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09928"/>
            <a:ext cx="5212080" cy="16459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>–  Place ONE object in a clear area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>–  Run the full pipeline cell by cell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>–  Observe the pick point on the visualisation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>–  Teacher approves the target before robot moves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>–  Record the outcome in your pick log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>–  Adjust X/Y/Z offsets if needed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>–  Repeat for 3–5 single-object picks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36792" y="1234440"/>
            <a:ext cx="5532120" cy="5193792"/>
          </a:xfrm>
          <a:prstGeom prst="rect">
            <a:avLst/>
          </a:prstGeom>
          <a:solidFill>
            <a:srgbClr val="E4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9844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B5B"/>
                </a:solidFill>
                <a:latin typeface="Arial"/>
              </a:rPr>
              <a:t>Recording Results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709928"/>
            <a:ext cx="5212080" cy="16459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8308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>–  Pick Log format: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>–  Pick# | Class  | Conf | Position | Result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>–  1     | circle | 0.92 | (45, 30) | ✓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>–  2     | square | 0.78 | (80, 55) | ✗ off 8mm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>–  Track every attempt.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202020"/>
                </a:solidFill>
                <a:latin typeface="Arial"/>
              </a:rPr>
              <a:t>–  You will present your success rate at the end.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01968"/>
            <a:ext cx="12188952" cy="27432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6647688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5F72"/>
                </a:solidFill>
                <a:latin typeface="Arial"/>
              </a:rPr>
              <a:t>Vision-Guided Robotic Picking Lab  ·  Högskolan Väst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Independent Picking — Increasing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3840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HÖGSKOLAN VÄST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Level 1 — Single object, centred in workspace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Level 2 — Two objects: pick the one with higher confidence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Level 3 — Three objects: pick in order (e.g. largest area first)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Level 4 — Objects near the workspace boundary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For each level: run the pipeline → log the result → analyse failures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If a pick fails, diagnose before continuing: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  • Was the detection correct? (check the visualisation)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  • Was the computed coordinate plausible?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  • Did the suction cup miss the object centroid?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7432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47688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5F72"/>
                </a:solidFill>
                <a:latin typeface="Arial"/>
              </a:rPr>
              <a:t>Vision-Guided Robotic Picking Lab  ·  Högskolan Väst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Mixed Clutter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3840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HÖGSKOLAN VÄST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Arrange 5 or more objects — some touching, some overlapping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Mix all object classes together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Run the full pipeline and attempt to pick every object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Discussion questions after your attempt: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  • Which objects were picked successfully?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  • Which were missed or misidentified?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  • Did overlapping objects cause problems?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  • Would a different pick order have worked better?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  • What would need to change for a real factory setup?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7432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47688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5F72"/>
                </a:solidFill>
                <a:latin typeface="Arial"/>
              </a:rPr>
              <a:t>Vision-Guided Robotic Picking Lab  ·  Högskolan Väst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Wrap-up Discussion — Key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3840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HÖGSKOLAN VÄST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What was the single biggest source of error at your station?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How did your mm_per_pixel calibration compare to other groups?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What would you change to improve pick reliability to &gt; 90%?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Looking further ahead: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  • How would you handle 3D objects (not flat on a surface)?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  • What if a new object type appears that was not in training?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  • How would a real factory system handle lighting changes?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202020"/>
                </a:solidFill>
                <a:latin typeface="Arial"/>
              </a:rPr>
              <a:t>–    • What safety certifications would a production robot need?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88952" cy="27432"/>
          </a:xfrm>
          <a:prstGeom prst="rect">
            <a:avLst/>
          </a:prstGeom>
          <a:solidFill>
            <a:srgbClr val="138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47688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5F72"/>
                </a:solidFill>
                <a:latin typeface="Arial"/>
              </a:rPr>
              <a:t>Vision-Guided Robotic Picking Lab  ·  Högskolan Väst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80A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61320" y="3474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Arial"/>
              </a:rPr>
              <a:t>HÖGSKOLAN VÄST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Key Takeaway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70432"/>
            <a:ext cx="10360152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Arial"/>
              </a:rPr>
              <a:t>“Vision-guided robotics is not magic — it is a chain of steps, each introducing a small error. Understanding where errors come from is the first step to eliminating them.”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263640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0ECF8"/>
                </a:solidFill>
                <a:latin typeface="Arial"/>
              </a:rPr>
              <a:t>Tillsammans förändrar vi.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263640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0ECF8"/>
                </a:solidFill>
                <a:latin typeface="Arial"/>
              </a:rPr>
              <a:t>End of Session 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88952" cy="27432"/>
          </a:xfrm>
          <a:prstGeom prst="rect">
            <a:avLst/>
          </a:prstGeom>
          <a:solidFill>
            <a:srgbClr val="00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