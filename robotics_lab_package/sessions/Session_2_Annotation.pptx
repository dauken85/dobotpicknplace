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B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164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SESSION 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4114800" cy="13716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Annotation and Model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0CCE0"/>
                </a:solidFill>
                <a:latin typeface="Arial"/>
              </a:rPr>
              <a:t>Labelling objects and teaching the model to see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60520"/>
            <a:ext cx="2286000" cy="36576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⏱  ~3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A8C0"/>
                </a:solidFill>
                <a:latin typeface="Arial"/>
              </a:rPr>
              <a:t>Tillsammans förändrar vi.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Understand what instance segmentation annotation means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Label objects with accurate polygon masks in Roboflow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Train a segmentation model on your own dataset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Evaluate model quality using precision, recall, and mAP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Identify what to fix when the model performs poorly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Session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335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00:00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938528" y="131673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33502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Recap of Session 1 — why dataset quality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883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00:15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8528" y="186537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88366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Intro to Roboflow — upload and organise images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3172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43230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00:45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2414015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2432303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Teacher annotation demo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80360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9809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01:00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38528" y="296265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98094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Students annotate images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2900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5295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01:45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8528" y="351129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352958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Break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77639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40782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02:00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38528" y="4059935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407822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Train/validation split — explained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526279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6268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02:15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38528" y="4608575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462686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Start model training (runs ~15–30 min)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074920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5175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02:30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38528" y="515721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517550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Evaluate results — metrics and test predictions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2356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57241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03:00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38528" y="570585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572414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Group presentations + wrap-up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Three Levels of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532120" cy="5193792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B"/>
                </a:solidFill>
                <a:latin typeface="Arial"/>
              </a:rPr>
              <a:t>Simpler approaches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09928"/>
            <a:ext cx="5212080" cy="16459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Classification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  → What is this image?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  → Single label for the whole image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Object Detection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  → Where are the objects?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  → Bounding box around each object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234440"/>
            <a:ext cx="5532120" cy="5193792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98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B"/>
                </a:solidFill>
                <a:latin typeface="Arial"/>
              </a:rPr>
              <a:t>What we need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709928"/>
            <a:ext cx="5212080" cy="16459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Instance Segmentation  ← we use this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  → Where is each object exactly?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  → Pixel-level polygon mask per object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  → Needed for accurate pick-point estimation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More precise mask → better centroid → better pick.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Annotation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Use the smart select / polygon tool in Roboflow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Trace tightly around the actual object boundary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Assign the correct class name — consistent across all images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Class names: square, rectangle, circle, triangle (lowercase, no spaces)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A loose annotation teaches the model the background, not the object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Good annotation:  tight, complete outline of the object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Bad annotation:   box drawn loosely around the object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Teacher will review and provide feedback during this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Train / Validation / 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Training set   (~70–80%)  — images the model learns from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Validation set (~10–15%)  — used to tune hyperparameters during training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Test set       (~10–15%)  — held-out images for final evaluation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Key rule: NEVER test on the same images you trained on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        (the model would just memorise the answers)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Roboflow handles the split automatically — accept the defaults.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Understanding Model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mAP  (mean Average Precision) — overall quality score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    &gt; 0.85  Excellent      0.70–0.85  Good      &lt; 0.70  Needs work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Precision — When the model says ‘circle’, how often is it right?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          High precision = few false positives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Recall    — Of all the circles in the image, how many did it find?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          High recall = few missed objects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For pick-and-place: high recall matters most (missing an object is bad).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Evaluating Your Model — What to Look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Run predictions on the test set in Roboflow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Check each image for: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✓  Correct detections with tight mask boundaries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✗  False positives (object detected where there is none)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✗  Missed objects (object not detected at all)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✗  Wrong class label assigned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✗  Mask extending far beyond the object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If precision is low → add more varied training images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If recall is low   → add more examples of the missed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8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347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Key 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70432"/>
            <a:ext cx="10360152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“A model is only as good as its annotations. Sloppy labels make a sloppy model — tighter, more accurate masks produce better segmentation.”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CF8"/>
                </a:solidFill>
                <a:latin typeface="Arial"/>
              </a:rPr>
              <a:t>Tillsammans förändrar vi.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0ECF8"/>
                </a:solidFill>
                <a:latin typeface="Arial"/>
              </a:rPr>
              <a:t>End of Session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